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62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828800"/>
            <a:ext cx="1828800" cy="82296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822960"/>
            <a:ext cx="640080" cy="100584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2651760"/>
            <a:ext cx="54864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822960"/>
            <a:ext cx="201168" cy="201168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554480"/>
            <a:ext cx="201168" cy="201168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1828800"/>
            <a:ext cx="201168" cy="201168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0" y="2651760"/>
            <a:ext cx="201168" cy="201168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4206240"/>
            <a:ext cx="146304" cy="14630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8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KPIT APEX LAB  ·  COEP TECHNOLOGICAL UNIVERSITY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Collision Detection and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Emergency Braking System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Multi-Node CAN Bus Platform with Sensor Fusion, Fail-Safe Control,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Data Recording, and Adaptive Cruise Control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2926080" cy="0"/>
          </a:xfrm>
          <a:prstGeom prst="line">
            <a:avLst/>
          </a:prstGeom>
          <a:noFill/>
          <a:ln w="12700">
            <a:solidFill>
              <a:srgbClr val="3A3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Shinde   ·   Siddhant Wankhede   ·   Vedant Yadav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2852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Jayanth Subramanian  —  KPIT Technologies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Production ADAS and Hands-On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1096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0584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AEB is now standard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36192" y="22219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Emergency Braking is one of the most widely deployed ADAS features, credited with major reductions in rear-end collisions.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1911096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513" y="20584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 architecture is opaque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42632" y="22219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systems run on distributed ECU networks over automotive CAN — well documented at a high level, rarely accessible for hands-on study.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82696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343009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227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projects stay shallow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36192" y="35935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 projects touch one piece in isolation: a single-MCU braking demo, a two-node CAN test, or a logging exercise — never the full picture.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063240"/>
            <a:ext cx="53492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3282696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513" y="343009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3227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goal: reproduce, not simulate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42632" y="35935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low-cost, distributed platform that faithfully reproduces real automotive safety patterns — not just a proxy for them.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Platform, Not Isolated Demos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contribution is systems integration: proving that distributed sensing, a hardware-independent fail-safe, adaptive control, and black-box-style logging can be reproduced faithfully — and made to interoperate correctly — on low-cost development boards.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843784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21" y="2976921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Multi-Node CAN Architecture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37764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ECUs on a shared 500 kbps CAN bus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34256" y="26060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843784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137" y="297692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Fusion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37764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ultrasonic, zone-weighted, cross-validated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19872" y="26060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843784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753" y="2976921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Fail-Safe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57616" y="37764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deadman-switch, independent of main logic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379976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" y="4617720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21" y="4750857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5248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Data Recorder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6384" y="5550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EEPROM-based, pre/post-trigger telemetry capture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34256" y="4379976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61772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137" y="4750857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0" y="5248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Cruise Control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0" y="5550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PID-based continuous distance regulation (design target)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19872" y="4379976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7616" y="4617720"/>
            <a:ext cx="512064" cy="512064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753" y="4750857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7616" y="5248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UDS-Style Diagnostics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57616" y="5550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runtime state introspection (design target)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Nodes, One Shared CAN Bus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026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1991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Joystick TX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29000" y="18288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93592" y="208026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1991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920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CAN Bridge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17920" y="18288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82512" y="208026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199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19202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ECU + EDR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00600" y="470916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965192" y="496062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50794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4800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 F446RE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Controller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2971800" y="230886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1" name="Text 15"/>
          <p:cNvSpPr/>
          <p:nvPr/>
        </p:nvSpPr>
        <p:spPr>
          <a:xfrm>
            <a:off x="297180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RF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40080" y="3657600"/>
            <a:ext cx="790956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— 500 kbps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94860" y="2788920"/>
            <a:ext cx="0" cy="868680"/>
          </a:xfrm>
          <a:prstGeom prst="line">
            <a:avLst/>
          </a:prstGeom>
          <a:noFill/>
          <a:ln w="19050">
            <a:solidFill>
              <a:srgbClr val="E8491D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4137660" y="3291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0x100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383780" y="2788920"/>
            <a:ext cx="0" cy="868680"/>
          </a:xfrm>
          <a:prstGeom prst="line">
            <a:avLst/>
          </a:prstGeom>
          <a:noFill/>
          <a:ln w="19050">
            <a:solidFill>
              <a:srgbClr val="E8491D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669798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0x200, 0x050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966460" y="3657600"/>
            <a:ext cx="0" cy="105156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4777740" y="4160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 0x100, 0x050, 0x200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778240" y="21031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STM32 motor controller consumes all three identifiers and originates no CAN traffic of its own — a fault in perception never directly corrupts the motor controller's state.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Node Owns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1096"/>
            <a:ext cx="548640" cy="5486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205374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196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Nano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43400" y="181965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joystick analog input, transmits over 2.4 GHz nRF24L01 to the bridge node.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3044952"/>
            <a:ext cx="548640" cy="5486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318759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535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Uno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43400" y="295351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RF joystick packets, re-publishes onto CAN bus under 0x100 — the wireless-to-wired gateway.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59352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78808"/>
            <a:ext cx="548640" cy="5486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43214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Mega 2560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343400" y="40873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LIDAR + ultrasonic readings, broadcasts AEB telemetry (0x200) and heartbeat (0x050). Hosts the EDR.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093208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5312664"/>
            <a:ext cx="548640" cy="54864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545531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2212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Nucleo F446RE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343400" y="522122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all CAN traffic, arbitrates driver input vs. AEB/ACC intervention, drives the L298N H-bridge.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Zone-Weighted Dual-Sensor Fusion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sensor alone is fully reliable. LIDAR offers higher precision but can misread reflective or transparent surfaces; ultrasonic is more robust to reflectivity but has wider beam divergence and slower response. Fusing both allows cross-validation.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300984"/>
            <a:ext cx="100584" cy="10058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1729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LIDAR-Lite v3HP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sensor, I2C, high precision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776472"/>
            <a:ext cx="100584" cy="10058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484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sensor, robust to reflectivity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00584" cy="10058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239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filter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both raw streams before fusion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27448"/>
            <a:ext cx="100584" cy="100584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994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fusion math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16-bit overflow defect found during development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Weight by Distance Zone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8388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Weight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9264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Weight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807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250 mm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2880360"/>
            <a:ext cx="14630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8183880" y="2880360"/>
            <a:ext cx="365760" cy="201168"/>
          </a:xfrm>
          <a:prstGeom prst="rect">
            <a:avLst/>
          </a:prstGeom>
          <a:solidFill>
            <a:srgbClr val="E8491D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31181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2640" y="2880360"/>
            <a:ext cx="14630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0" y="2880360"/>
            <a:ext cx="1097280" cy="201168"/>
          </a:xfrm>
          <a:prstGeom prst="rect">
            <a:avLst/>
          </a:prstGeom>
          <a:solidFill>
            <a:srgbClr val="E8491D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0" y="31181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3584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– 1000 mm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83880" y="3657600"/>
            <a:ext cx="14630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0" y="3657600"/>
            <a:ext cx="877824" cy="20116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38953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92640" y="3657600"/>
            <a:ext cx="14630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9692640" y="3657600"/>
            <a:ext cx="585216" cy="20116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38953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4361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1000 mm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183880" y="4434840"/>
            <a:ext cx="14630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3880" y="4434840"/>
            <a:ext cx="1316736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4672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92640" y="4434840"/>
            <a:ext cx="146304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9692640" y="4434840"/>
            <a:ext cx="146304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9692640" y="4672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0" y="5184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close range, LIDAR precision matters most for braking decisions. At longer range, weighting balances toward ultrasonic robustness.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Escalating Response, Not a Single Trigger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01168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295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CRUISE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500 mm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active — forward speed capped at 70% PWM (179/255).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37860" y="201168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055" y="22018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DECEL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26280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– 500 mm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PWM ramp: 30% + 40 × (dist − 250) / 250 — 70% down to 30%.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2A1410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32620" y="2011680"/>
            <a:ext cx="731520" cy="7315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815" y="220187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21040" y="3401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250 mm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58200" y="38862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back-EMF brake (reverse polarity via L298N) — joystick fully overridden.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staged approach mirrors production AEB calibration philosophy — escalating intervention balances false-positive braking against stopping performance.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8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Heartbeat Deadman-Switch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AEB zone logic, the STM32 expects a heartbeat frame (0x050) from the Mega at a regular interval. Silence for too long means something has failed — and the system fails safe.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0" y="1536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every 30 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5528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originates 0x050 (0xA5) on the shared CAN bus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057400"/>
            <a:ext cx="0" cy="594360"/>
          </a:xfrm>
          <a:prstGeom prst="line">
            <a:avLst/>
          </a:prstGeom>
          <a:noFill/>
          <a:ln w="15875">
            <a:solidFill>
              <a:srgbClr val="3A3F4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315200" y="2670048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27889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0" y="2651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ms silence → fault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955280" y="2944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declares STATE_NETWORK_FAULT and enters hardware lockout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543800" y="3172968"/>
            <a:ext cx="0" cy="594360"/>
          </a:xfrm>
          <a:prstGeom prst="line">
            <a:avLst/>
          </a:prstGeom>
          <a:noFill/>
          <a:ln w="15875">
            <a:solidFill>
              <a:srgbClr val="3A3F4E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7315200" y="3785616"/>
            <a:ext cx="457200" cy="45720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390448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767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is non-recoverable in software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55280" y="40599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stays braked via back-EMF; 0x200 telemetry is silently discarded, even after the Mega reconnects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543800" y="4288536"/>
            <a:ext cx="0" cy="594360"/>
          </a:xfrm>
          <a:prstGeom prst="line">
            <a:avLst/>
          </a:prstGeom>
          <a:noFill/>
          <a:ln w="15875">
            <a:solidFill>
              <a:srgbClr val="3A3F4E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7315200" y="4901184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502005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48828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 only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955280" y="51755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PC13 button press (≥50 ms) clears the lockout → STATE_IDLE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ms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548640" y="3456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threshold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269748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2.67×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2697480" y="3456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margin before fault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84632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ms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4846320" y="3456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debounce period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48920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design choice analogous to fault-latching behavior in automotive safety-critical ECUs — certain fault classes require an explicit reset rather than self-clearing.”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DATA RECORDER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Black Box for the Perception Node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Mega captures a rolling window of telemetry around every emergency-zone trigger — pre- and post-event — in the same spirit as an automotive crash data recorder.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65376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4288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1024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59936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2834640"/>
            <a:ext cx="384048" cy="38404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834640"/>
            <a:ext cx="384048" cy="384048"/>
          </a:xfrm>
          <a:prstGeom prst="rect">
            <a:avLst/>
          </a:prstGeom>
          <a:solidFill>
            <a:srgbClr val="E849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5584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71232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0144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7968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834640"/>
            <a:ext cx="384048" cy="384048"/>
          </a:xfrm>
          <a:prstGeom prst="rect">
            <a:avLst/>
          </a:prstGeom>
          <a:solidFill>
            <a:srgbClr val="8DAA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PRE-TRIGGER FRAMES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42432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POST-TRIGGER FRAMES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2450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frames total, sampled at 20 Hz ≈ 1.05 s window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325112"/>
            <a:ext cx="219456" cy="21945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70432" y="4187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023360" y="41879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distance drops below the 250 mm emergency threshold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4828032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946904"/>
            <a:ext cx="219456" cy="21945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170432" y="4809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023360" y="48097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bytes total in internal EEPROM — 12 bytes/frame, no SD card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48640" y="5449824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568696"/>
            <a:ext cx="219456" cy="219456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170432" y="5431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Watchdog-safe writes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4023360" y="54315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injected after every frame write — keeps the 80 ms STM32 watchdog alive through the ≈832 ms worst-case flush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Cruise Control &amp; Diagnostics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Cruise Control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discrete braking zones with continuous PID control toward a fixed following gap.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u(t) = Kp·e(t) + Ki∫e(t)dt + Kd·de(t)/dt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160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gap: 300 mm  ·  Fixed 20 ms control loop  ·  Derivative low-pass filtered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461772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7548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status: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firmware implements the Decel-zone response as a linear PWM ramp rather than the full PID law above.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UDS-Style Diagnostics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46520" y="2606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20" name="Text 16"/>
          <p:cNvSpPr/>
          <p:nvPr/>
        </p:nvSpPr>
        <p:spPr>
          <a:xfrm>
            <a:off x="6446520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446520" y="3063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layer modeled on ISO 14229 (UDS) for runtime state inspection without a physical debugger.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46520" y="3758184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3" name="Text 19"/>
          <p:cNvSpPr/>
          <p:nvPr/>
        </p:nvSpPr>
        <p:spPr>
          <a:xfrm>
            <a:off x="6656832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fused obstacle distance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46520" y="4087368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5" name="Text 21"/>
          <p:cNvSpPr/>
          <p:nvPr/>
        </p:nvSpPr>
        <p:spPr>
          <a:xfrm>
            <a:off x="6656832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AEB zone / ACC state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46520" y="4416552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7" name="Text 23"/>
          <p:cNvSpPr/>
          <p:nvPr/>
        </p:nvSpPr>
        <p:spPr>
          <a:xfrm>
            <a:off x="6656832" y="4306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&amp; lockout status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446520" y="4745736"/>
            <a:ext cx="82296" cy="82296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9" name="Text 25"/>
          <p:cNvSpPr/>
          <p:nvPr/>
        </p:nvSpPr>
        <p:spPr>
          <a:xfrm>
            <a:off x="6656832" y="4636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EDR trigger timestamp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46520" y="507492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46520" y="51937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status: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 in verified firmware; CAN bus load analysis confirms ample headroom (&lt;2% of 40% budget) to add it.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on the Bench</a:t>
            </a:r>
            <a:endParaRPr lang="en-US" sz="3200" dirty="0"/>
          </a:p>
        </p:txBody>
      </p:sp>
      <p:pic>
        <p:nvPicPr>
          <p:cNvPr id="4" name="Image 0" descr="figures/fig2_assembly_si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4160520" cy="23408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4160520" cy="2340864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721608"/>
            <a:ext cx="4160520" cy="310896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372160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assembly — side view</a:t>
            </a:r>
            <a:endParaRPr lang="en-US" sz="950" dirty="0"/>
          </a:p>
        </p:txBody>
      </p:sp>
      <p:pic>
        <p:nvPicPr>
          <p:cNvPr id="8" name="Image 1" descr="figures/fig4_hbridg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691640"/>
            <a:ext cx="4160520" cy="23408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691640"/>
            <a:ext cx="4160520" cy="2340864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3721608"/>
            <a:ext cx="4160520" cy="310896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919472" y="372160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H-bridge &amp; drive motors</a:t>
            </a:r>
            <a:endParaRPr lang="en-US" sz="950" dirty="0"/>
          </a:p>
        </p:txBody>
      </p:sp>
      <p:pic>
        <p:nvPicPr>
          <p:cNvPr id="12" name="Image 2" descr="figures/fig_nano_joystick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0" y="1691640"/>
            <a:ext cx="2496312" cy="44439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0" y="1691640"/>
            <a:ext cx="2496312" cy="4443984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0" y="5824728"/>
            <a:ext cx="2496312" cy="310896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9217152" y="5824728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transmitter node</a:t>
            </a:r>
            <a:endParaRPr lang="en-US" sz="950" dirty="0"/>
          </a:p>
        </p:txBody>
      </p:sp>
      <p:pic>
        <p:nvPicPr>
          <p:cNvPr id="16" name="Image 3" descr="figures/fig3_sensor_mount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8640" y="4169664"/>
            <a:ext cx="4160520" cy="19659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48640" y="4169664"/>
            <a:ext cx="4160520" cy="196596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48640" y="5824728"/>
            <a:ext cx="4160520" cy="310896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621792" y="58247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ultrasonic mount</a:t>
            </a:r>
            <a:endParaRPr lang="en-US" sz="950" dirty="0"/>
          </a:p>
        </p:txBody>
      </p:sp>
      <p:pic>
        <p:nvPicPr>
          <p:cNvPr id="20" name="Image 4" descr="figures/fig5_topdown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46320" y="4169664"/>
            <a:ext cx="4160520" cy="19659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846320" y="4169664"/>
            <a:ext cx="4160520" cy="196596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846320" y="5824728"/>
            <a:ext cx="4160520" cy="310896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4919472" y="5824728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test platform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As-Built Power Distribution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74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57984"/>
            <a:ext cx="6035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94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supply #1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2249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VIN / GND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22494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both DC motors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724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supply #2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27249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Vin / GND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724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perception ECU directly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supply #2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32004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Vin / GND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RF-to-CAN bridge directly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3639312"/>
            <a:ext cx="6263640" cy="45720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758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V-rated supply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7480" y="36758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VDD pin / GND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6758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output: 4.2 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151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97480" y="41513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extension 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151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bench supplies share a common mains strip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1691640"/>
            <a:ext cx="4343400" cy="4434840"/>
          </a:xfrm>
          <a:prstGeom prst="roundRect">
            <a:avLst>
              <a:gd name="adj" fmla="val 1895"/>
            </a:avLst>
          </a:prstGeom>
          <a:solidFill>
            <a:srgbClr val="2A1410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1938528"/>
            <a:ext cx="502920" cy="502920"/>
          </a:xfrm>
          <a:prstGeom prst="ellipse">
            <a:avLst/>
          </a:prstGeom>
          <a:solidFill>
            <a:srgbClr val="E8491D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279" y="2069287"/>
            <a:ext cx="241402" cy="24140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0" y="1956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Risk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8952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4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VDD Overvoltage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589520" y="29992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 is the STM32F446RE's 3.3 V logic rail. Per datasheet, normal operating range is 1.7–3.6 V and the absolute maximum is 4.0 V.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589520" y="37490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3A1810"/>
          </a:solidFill>
          <a:ln/>
        </p:spPr>
      </p:sp>
      <p:sp>
        <p:nvSpPr>
          <p:cNvPr id="32" name="Text 29"/>
          <p:cNvSpPr/>
          <p:nvPr/>
        </p:nvSpPr>
        <p:spPr>
          <a:xfrm>
            <a:off x="7589520" y="37856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V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589520" y="41513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464040" y="3749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F2E1A"/>
          </a:solidFill>
          <a:ln/>
        </p:spPr>
      </p:sp>
      <p:sp>
        <p:nvSpPr>
          <p:cNvPr id="35" name="Text 32"/>
          <p:cNvSpPr/>
          <p:nvPr/>
        </p:nvSpPr>
        <p:spPr>
          <a:xfrm>
            <a:off x="9464040" y="37856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B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V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464040" y="4151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max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589520" y="45720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the absolute maximum rating, not just the recommended range — real risk of permanent MCU damage (latch-up / dielectric breakdown). Tracked as an open item; safer fix is the dedicated 5V pin, which regulates down automatically.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Validation &amp; Design-Target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Bench Validation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2503993"/>
            <a:ext cx="149230" cy="149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368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frames correctly filtered by identifier - no cross-talk observed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935224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3016057"/>
            <a:ext cx="149230" cy="1492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zone state machine transitions cleanly: CRUISE ↔ DECEL ↔ EMERG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3447288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3528121"/>
            <a:ext cx="149230" cy="1492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3924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severance / node reset reliably triggers hardware lockout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22960" y="3959352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4040185"/>
            <a:ext cx="149230" cy="1492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904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clears only via debounced PC13 button press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22960" y="4471416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4552249"/>
            <a:ext cx="149230" cy="1492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61872" y="4416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triggers correctly on emergency-zone entry; full log retrievable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2296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were qualitative (eye + stopwatch), consistent with but not a substitute for the instrumented verification procedures defined in the project's test appendix.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080760" y="1691640"/>
            <a:ext cx="553212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3550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Design-Target Metrics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355080" y="228600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25" name="Text 18"/>
          <p:cNvSpPr/>
          <p:nvPr/>
        </p:nvSpPr>
        <p:spPr>
          <a:xfrm>
            <a:off x="63550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MEASUREMENT PENDING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635508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timeout → lockout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60120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80 ms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355080" y="3236976"/>
            <a:ext cx="4983480" cy="0"/>
          </a:xfrm>
          <a:prstGeom prst="line">
            <a:avLst/>
          </a:prstGeom>
          <a:noFill/>
          <a:ln w="12700">
            <a:solidFill>
              <a:srgbClr val="F0F1F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55080" y="3291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/ Decel speed regulation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9601200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– 70% PWM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355080" y="3739896"/>
            <a:ext cx="4983480" cy="0"/>
          </a:xfrm>
          <a:prstGeom prst="line">
            <a:avLst/>
          </a:prstGeom>
          <a:noFill/>
          <a:ln w="12700">
            <a:solidFill>
              <a:srgbClr val="F0F1F3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355080" y="3794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capture window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9601200" y="3794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frames @ 20 Hz (≈1.05 s)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355080" y="4242816"/>
            <a:ext cx="4983480" cy="0"/>
          </a:xfrm>
          <a:prstGeom prst="line">
            <a:avLst/>
          </a:prstGeom>
          <a:noFill/>
          <a:ln w="12700">
            <a:solidFill>
              <a:srgbClr val="F0F1F3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355080" y="4297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load (3-frame pattern)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9601200" y="4297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1.10% of 500 kbps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6355080" y="493776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derived directly from firmware constants and control logic — not measured data. Emergency-zone stopping distance is not derivable from firmware alone; it depends on vehicle mass, motor torque, and surface friction.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41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suite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" y="273405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ultrasonic lacks the angular resolution of automotive-grade radar single-point, not full-scene, perception.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892808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0116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41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timing analysis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53712" y="273405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worst-case CAN latency analysis under full bus load yet.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92808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116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441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 controller validation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734056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closed-loop stability / step-response characterization remains future work.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374136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575304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69417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41239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actuation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68096" y="44165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 + L298N is illustrative, not representative of true vehicle braking dynamics.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34256" y="3374136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575304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369417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1239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fault coverage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53712" y="44165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watchdog covers liveness faults only not sensor plausibility or CAN bus-off recovery.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19872" y="3374136"/>
            <a:ext cx="35661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575304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69417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12394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power fix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441655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VDD supply to the dedicated 5V pin to eliminate the overvoltage risk.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8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 Safety Patterns, Faithfully Reproduced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distributed sensing and actuation, weighted multi-sensor fusion, a multi-stage braking response, and a hardware-enforced heartbeat fail-safe can be integrated not just studied in isolation using low-cost Arduino and STM32 development boards.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474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EEPROM-based event data recording and PID-based adaptive cruise control identified as further design targets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279392"/>
            <a:ext cx="109728" cy="109728"/>
          </a:xfrm>
          <a:prstGeom prst="ellipse">
            <a:avLst/>
          </a:prstGeom>
          <a:solidFill>
            <a:srgbClr val="E8491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1330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centers on instrumented quantitative validation and closing the ACC/diagnostics implementation gap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73736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1D2130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9019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84080" y="173736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1D2130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0" y="190195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784080" y="2514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identifiers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324612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1D213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34107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4023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frames/event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84080" y="3246120"/>
            <a:ext cx="1874520" cy="1280160"/>
          </a:xfrm>
          <a:prstGeom prst="roundRect">
            <a:avLst>
              <a:gd name="adj" fmla="val 6429"/>
            </a:avLst>
          </a:prstGeom>
          <a:solidFill>
            <a:srgbClr val="1D2130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341071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8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ms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784080" y="40233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threshold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5852160"/>
            <a:ext cx="1828800" cy="64008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937760"/>
            <a:ext cx="640080" cy="91440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937760"/>
            <a:ext cx="164592" cy="164592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5577840"/>
            <a:ext cx="164592" cy="164592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5852160"/>
            <a:ext cx="164592" cy="164592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6309360"/>
            <a:ext cx="164592" cy="164592"/>
          </a:xfrm>
          <a:prstGeom prst="ellipse">
            <a:avLst/>
          </a:prstGeom>
          <a:solidFill>
            <a:srgbClr val="98C1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8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4648" y="4114800"/>
            <a:ext cx="1828800" cy="0"/>
          </a:xfrm>
          <a:prstGeom prst="line">
            <a:avLst/>
          </a:prstGeom>
          <a:noFill/>
          <a:ln w="12700">
            <a:solidFill>
              <a:srgbClr val="3A3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Shinde  ·  Siddhant Wankhede  ·  Vedant Yadav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KPIT APEX LAB  ·  COEP Technological University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AEB System — KPIT APEX LAB, COEP Technological University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1860</Words>
  <Application>Microsoft Office PowerPoint</Application>
  <PresentationFormat>Widescreen</PresentationFormat>
  <Paragraphs>272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Collision Detection and Automatic Emergency Braking System</dc:title>
  <dc:subject>PptxGenJS Presentation</dc:subject>
  <dc:creator>Meet Shinde, Siddhant Wankhede, Vedant Yadav</dc:creator>
  <cp:lastModifiedBy>Sai Shinde</cp:lastModifiedBy>
  <cp:revision>2</cp:revision>
  <dcterms:created xsi:type="dcterms:W3CDTF">2026-07-03T04:01:45Z</dcterms:created>
  <dcterms:modified xsi:type="dcterms:W3CDTF">2026-07-03T04:28:54Z</dcterms:modified>
</cp:coreProperties>
</file>